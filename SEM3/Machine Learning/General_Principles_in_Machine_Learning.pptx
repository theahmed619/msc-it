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457200"/>
            <a:ext cx="1371600" cy="1371600"/>
          </a:xfrm>
          <a:prstGeom prst="ellipse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1234440"/>
            <a:ext cx="731520" cy="73152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5212080"/>
            <a:ext cx="1828800" cy="18288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880" y="5212080"/>
            <a:ext cx="1188720" cy="1188720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9784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304E"/>
                </a:solidFill>
              </a:defRPr>
            </a:pPr>
            <a:r>
              <a:t>General Principles in</a:t>
            </a:r>
            <a:br/>
            <a:r>
              <a:t>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5468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465264"/>
                </a:solidFill>
              </a:defRPr>
            </a:pPr>
            <a:r>
              <a:t>Occam’s Razor • No-Free-Lunch Theorem • Law of the Smooth World • Curse of Dimensionality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17720"/>
            <a:ext cx="6217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5A6473"/>
                </a:solidFill>
              </a:defRPr>
            </a:pPr>
            <a:r>
              <a:t>Machine Learning — classroom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8C9B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04E"/>
                </a:solidFill>
              </a:defRPr>
            </a:pPr>
            <a:r>
              <a:t>What are these principles?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6473"/>
                </a:solidFill>
              </a:defRPr>
            </a:pPr>
            <a:r>
              <a:t>Four ideas that help us understand how ML models learn and generalize.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2560320" cy="1828800"/>
          </a:xfrm>
          <a:prstGeom prst="roundRect">
            <a:avLst/>
          </a:prstGeom>
          <a:solidFill>
            <a:srgbClr val="EBF2FC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1F3F70"/>
                </a:solidFill>
              </a:defRPr>
            </a:pPr>
            <a:r>
              <a:t>1. Occam’s Razor</a:t>
            </a:r>
          </a:p>
          <a:p>
            <a:pPr>
              <a:spcBef>
                <a:spcPts val="700"/>
              </a:spcBef>
              <a:defRPr sz="1500">
                <a:solidFill>
                  <a:srgbClr val="374150"/>
                </a:solidFill>
              </a:defRPr>
            </a:pPr>
            <a:r>
              <a:t>Prefer a simpler explanation when several explanations fit the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508760"/>
            <a:ext cx="2560320" cy="1828800"/>
          </a:xfrm>
          <a:prstGeom prst="roundRect">
            <a:avLst/>
          </a:prstGeom>
          <a:solidFill>
            <a:srgbClr val="EBF2FC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1F3F70"/>
                </a:solidFill>
              </a:defRPr>
            </a:pPr>
            <a:r>
              <a:t>2. No-Free-Lunch</a:t>
            </a:r>
          </a:p>
          <a:p>
            <a:pPr>
              <a:spcBef>
                <a:spcPts val="700"/>
              </a:spcBef>
              <a:defRPr sz="1500">
                <a:solidFill>
                  <a:srgbClr val="374150"/>
                </a:solidFill>
              </a:defRPr>
            </a:pPr>
            <a:r>
              <a:t>No single learning algorithm is best for every possible problem.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2560320" cy="1828800"/>
          </a:xfrm>
          <a:prstGeom prst="roundRect">
            <a:avLst/>
          </a:prstGeom>
          <a:solidFill>
            <a:srgbClr val="EBF2FC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1F3F70"/>
                </a:solidFill>
              </a:defRPr>
            </a:pPr>
            <a:r>
              <a:t>3. Smooth World</a:t>
            </a:r>
          </a:p>
          <a:p>
            <a:pPr>
              <a:spcBef>
                <a:spcPts val="700"/>
              </a:spcBef>
              <a:defRPr sz="1500">
                <a:solidFill>
                  <a:srgbClr val="374150"/>
                </a:solidFill>
              </a:defRPr>
            </a:pPr>
            <a:r>
              <a:t>Similar inputs often have similar outputs; nearby examples can inform one another.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508760"/>
            <a:ext cx="2560320" cy="1828800"/>
          </a:xfrm>
          <a:prstGeom prst="roundRect">
            <a:avLst/>
          </a:prstGeom>
          <a:solidFill>
            <a:srgbClr val="EBF2FC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1F3F70"/>
                </a:solidFill>
              </a:defRPr>
            </a:pPr>
            <a:r>
              <a:t>4. Curse of Dimensionality</a:t>
            </a:r>
          </a:p>
          <a:p>
            <a:pPr>
              <a:spcBef>
                <a:spcPts val="700"/>
              </a:spcBef>
              <a:defRPr sz="1500">
                <a:solidFill>
                  <a:srgbClr val="374150"/>
                </a:solidFill>
              </a:defRPr>
            </a:pPr>
            <a:r>
              <a:t>As features increase, data become sparse and many methods become harder to use.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3977639"/>
            <a:ext cx="8138160" cy="1234440"/>
          </a:xfrm>
          <a:prstGeom prst="roundRect">
            <a:avLst/>
          </a:prstGeom>
          <a:solidFill>
            <a:srgbClr val="F5EFE2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1F3F70"/>
                </a:solidFill>
              </a:defRPr>
            </a:pPr>
            <a:r>
              <a:t>Big picture</a:t>
            </a:r>
          </a:p>
          <a:p>
            <a:pPr>
              <a:spcBef>
                <a:spcPts val="700"/>
              </a:spcBef>
              <a:defRPr sz="1500">
                <a:solidFill>
                  <a:srgbClr val="374150"/>
                </a:solidFill>
              </a:defRPr>
            </a:pPr>
            <a:r>
              <a:t>Good ML is not only about choosing an algorithm. We also need useful assumptions, suitable data, and careful feature selection.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8C9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04E"/>
                </a:solidFill>
              </a:defRPr>
            </a:pPr>
            <a:r>
              <a:t>Occam’s Razor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6473"/>
                </a:solidFill>
              </a:defRPr>
            </a:pPr>
            <a:r>
              <a:t>A useful rule for choosing among explanations.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D3746"/>
                </a:solidFill>
              </a:defRPr>
            </a:pPr>
            <a:r>
              <a:t>When two models explain the training data similarly well, a simpler model is often preferred.</a:t>
            </a:r>
          </a:p>
          <a:p>
            <a:pPr>
              <a:spcAft>
                <a:spcPts val="1200"/>
              </a:spcAft>
              <a:defRPr sz="1900" b="0">
                <a:solidFill>
                  <a:srgbClr val="2D3746"/>
                </a:solidFill>
              </a:defRPr>
            </a:pPr>
            <a:r>
              <a:t>A simpler model usually has fewer unnecessary rules or parameters.</a:t>
            </a:r>
          </a:p>
          <a:p>
            <a:pPr>
              <a:spcAft>
                <a:spcPts val="1200"/>
              </a:spcAft>
              <a:defRPr sz="1900" b="0">
                <a:solidFill>
                  <a:srgbClr val="2D3746"/>
                </a:solidFill>
              </a:defRPr>
            </a:pPr>
            <a:r>
              <a:t>Simplicity can improve interpretability and may reduce overfitting.</a:t>
            </a:r>
          </a:p>
          <a:p>
            <a:pPr>
              <a:spcAft>
                <a:spcPts val="1200"/>
              </a:spcAft>
              <a:defRPr sz="1900" b="0">
                <a:solidFill>
                  <a:srgbClr val="2D3746"/>
                </a:solidFill>
              </a:defRPr>
            </a:pPr>
            <a:r>
              <a:t>Important: Occam’s Razor is a guiding principle—not a guarantee that the simplest model is always correct.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0840" y="1417320"/>
            <a:ext cx="2148840" cy="1463040"/>
          </a:xfrm>
          <a:prstGeom prst="roundRect">
            <a:avLst/>
          </a:prstGeom>
          <a:solidFill>
            <a:srgbClr val="E8F5E8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1F3F70"/>
                </a:solidFill>
              </a:defRPr>
            </a:pPr>
            <a:r>
              <a:t>Simple model</a:t>
            </a:r>
          </a:p>
          <a:p>
            <a:pPr>
              <a:spcBef>
                <a:spcPts val="700"/>
              </a:spcBef>
              <a:defRPr sz="1500">
                <a:solidFill>
                  <a:srgbClr val="374150"/>
                </a:solidFill>
              </a:defRPr>
            </a:pPr>
            <a:r>
              <a:t>A straight line captures the main trend.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98280" y="1417320"/>
            <a:ext cx="2148840" cy="1463040"/>
          </a:xfrm>
          <a:prstGeom prst="roundRect">
            <a:avLst/>
          </a:prstGeom>
          <a:solidFill>
            <a:srgbClr val="FAEBEB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1F3F70"/>
                </a:solidFill>
              </a:defRPr>
            </a:pPr>
            <a:r>
              <a:t>Complex model</a:t>
            </a:r>
          </a:p>
          <a:p>
            <a:pPr>
              <a:spcBef>
                <a:spcPts val="700"/>
              </a:spcBef>
              <a:defRPr sz="1500">
                <a:solidFill>
                  <a:srgbClr val="374150"/>
                </a:solidFill>
              </a:defRPr>
            </a:pPr>
            <a:r>
              <a:t>A highly wavy curve follows every small fluctuation.</a:t>
            </a:r>
          </a:p>
        </p:txBody>
      </p:sp>
      <p:sp>
        <p:nvSpPr>
          <p:cNvPr id="8" name="Oval 7"/>
          <p:cNvSpPr/>
          <p:nvPr/>
        </p:nvSpPr>
        <p:spPr>
          <a:xfrm>
            <a:off x="6903720" y="3337560"/>
            <a:ext cx="109728" cy="109728"/>
          </a:xfrm>
          <a:prstGeom prst="ellipse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60920" y="3063240"/>
            <a:ext cx="109728" cy="109728"/>
          </a:xfrm>
          <a:prstGeom prst="ellipse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18120" y="2834640"/>
            <a:ext cx="109728" cy="109728"/>
          </a:xfrm>
          <a:prstGeom prst="ellipse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75320" y="2514600"/>
            <a:ext cx="109728" cy="109728"/>
          </a:xfrm>
          <a:prstGeom prst="ellipse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32520" y="2331720"/>
            <a:ext cx="109728" cy="109728"/>
          </a:xfrm>
          <a:prstGeom prst="ellipse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89720" y="2103120"/>
            <a:ext cx="109728" cy="109728"/>
          </a:xfrm>
          <a:prstGeom prst="ellipse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46920" y="1920240"/>
            <a:ext cx="109728" cy="109728"/>
          </a:xfrm>
          <a:prstGeom prst="ellipse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104120" y="1783080"/>
            <a:ext cx="109728" cy="109728"/>
          </a:xfrm>
          <a:prstGeom prst="ellipse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 flipV="1">
            <a:off x="6858000" y="1691640"/>
            <a:ext cx="3474720" cy="1874520"/>
          </a:xfrm>
          <a:prstGeom prst="line">
            <a:avLst/>
          </a:prstGeom>
          <a:ln w="38100">
            <a:solidFill>
              <a:srgbClr val="2F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720840" y="4709160"/>
            <a:ext cx="4526280" cy="960120"/>
          </a:xfrm>
          <a:prstGeom prst="roundRect">
            <a:avLst/>
          </a:prstGeom>
          <a:solidFill>
            <a:srgbClr val="EEF4FC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1F3F70"/>
                </a:solidFill>
              </a:defRPr>
            </a:pPr>
            <a:r>
              <a:t>Example</a:t>
            </a:r>
          </a:p>
          <a:p>
            <a:pPr>
              <a:spcBef>
                <a:spcPts val="700"/>
              </a:spcBef>
              <a:defRPr sz="1500">
                <a:solidFill>
                  <a:srgbClr val="374150"/>
                </a:solidFill>
              </a:defRPr>
            </a:pPr>
            <a:r>
              <a:t>For spam detection, a compact set of useful rules may be easier to understand than hundreds of special cases.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8C9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04E"/>
                </a:solidFill>
              </a:defRPr>
            </a:pPr>
            <a:r>
              <a:t>No-Free-Lunch Theorem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6473"/>
                </a:solidFill>
              </a:defRPr>
            </a:pPr>
            <a:r>
              <a:t>There is no universally best machine-learning algorithm.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5715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D3746"/>
                </a:solidFill>
              </a:defRPr>
            </a:pPr>
            <a:r>
              <a:t>Different datasets have different patterns and assumptions.</a:t>
            </a:r>
          </a:p>
          <a:p>
            <a:pPr>
              <a:spcAft>
                <a:spcPts val="1200"/>
              </a:spcAft>
              <a:defRPr sz="1900" b="0">
                <a:solidFill>
                  <a:srgbClr val="2D3746"/>
                </a:solidFill>
              </a:defRPr>
            </a:pPr>
            <a:r>
              <a:t>An algorithm that works extremely well on one class of problems may perform poorly on another.</a:t>
            </a:r>
          </a:p>
          <a:p>
            <a:pPr>
              <a:spcAft>
                <a:spcPts val="1200"/>
              </a:spcAft>
              <a:defRPr sz="1900" b="0">
                <a:solidFill>
                  <a:srgbClr val="2D3746"/>
                </a:solidFill>
              </a:defRPr>
            </a:pPr>
            <a:r>
              <a:t>Performance depends on the data, features, target, evaluation metric, and assumptions.</a:t>
            </a:r>
          </a:p>
          <a:p>
            <a:pPr>
              <a:spcAft>
                <a:spcPts val="1200"/>
              </a:spcAft>
              <a:defRPr sz="1900" b="0">
                <a:solidFill>
                  <a:srgbClr val="2D3746"/>
                </a:solidFill>
              </a:defRPr>
            </a:pPr>
            <a:r>
              <a:t>Therefore, model selection should be based on the actual problem and evidence from evaluation.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12280" y="1417320"/>
            <a:ext cx="1920240" cy="1417320"/>
          </a:xfrm>
          <a:prstGeom prst="roundRect">
            <a:avLst/>
          </a:prstGeom>
          <a:solidFill>
            <a:srgbClr val="E8F5E8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1F3F70"/>
                </a:solidFill>
              </a:defRPr>
            </a:pPr>
            <a:r>
              <a:t>Dataset A</a:t>
            </a:r>
          </a:p>
          <a:p>
            <a:pPr>
              <a:spcBef>
                <a:spcPts val="700"/>
              </a:spcBef>
              <a:defRPr sz="1500">
                <a:solidFill>
                  <a:srgbClr val="374150"/>
                </a:solidFill>
              </a:defRPr>
            </a:pPr>
            <a:r>
              <a:t>Mostly linear pattern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417320"/>
            <a:ext cx="1920240" cy="1417320"/>
          </a:xfrm>
          <a:prstGeom prst="roundRect">
            <a:avLst/>
          </a:prstGeom>
          <a:solidFill>
            <a:srgbClr val="F5EFE2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1F3F70"/>
                </a:solidFill>
              </a:defRPr>
            </a:pPr>
            <a:r>
              <a:t>Dataset B</a:t>
            </a:r>
          </a:p>
          <a:p>
            <a:pPr>
              <a:spcBef>
                <a:spcPts val="700"/>
              </a:spcBef>
              <a:defRPr sz="1500">
                <a:solidFill>
                  <a:srgbClr val="374150"/>
                </a:solidFill>
              </a:defRPr>
            </a:pPr>
            <a:r>
              <a:t>Complex boundaries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3246120"/>
            <a:ext cx="1920240" cy="1417320"/>
          </a:xfrm>
          <a:prstGeom prst="roundRect">
            <a:avLst/>
          </a:prstGeom>
          <a:solidFill>
            <a:srgbClr val="EEF4FC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1F3F70"/>
                </a:solidFill>
              </a:defRPr>
            </a:pPr>
            <a:r>
              <a:t>Model X</a:t>
            </a:r>
          </a:p>
          <a:p>
            <a:pPr>
              <a:spcBef>
                <a:spcPts val="700"/>
              </a:spcBef>
              <a:defRPr sz="1500">
                <a:solidFill>
                  <a:srgbClr val="374150"/>
                </a:solidFill>
              </a:defRPr>
            </a:pPr>
            <a:r>
              <a:t>May suit 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3246120"/>
            <a:ext cx="1920240" cy="1417320"/>
          </a:xfrm>
          <a:prstGeom prst="roundRect">
            <a:avLst/>
          </a:prstGeom>
          <a:solidFill>
            <a:srgbClr val="EEF4FC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1F3F70"/>
                </a:solidFill>
              </a:defRPr>
            </a:pPr>
            <a:r>
              <a:t>Model Y</a:t>
            </a:r>
          </a:p>
          <a:p>
            <a:pPr>
              <a:spcBef>
                <a:spcPts val="700"/>
              </a:spcBef>
              <a:defRPr sz="1500">
                <a:solidFill>
                  <a:srgbClr val="374150"/>
                </a:solidFill>
              </a:defRPr>
            </a:pPr>
            <a:r>
              <a:t>May suit 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0" y="5074920"/>
            <a:ext cx="4069080" cy="777240"/>
          </a:xfrm>
          <a:prstGeom prst="roundRect">
            <a:avLst/>
          </a:prstGeom>
          <a:solidFill>
            <a:srgbClr val="FAEBEB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1F3F70"/>
                </a:solidFill>
              </a:defRPr>
            </a:pPr>
            <a:r>
              <a:t>Key idea</a:t>
            </a:r>
          </a:p>
          <a:p>
            <a:pPr>
              <a:spcBef>
                <a:spcPts val="700"/>
              </a:spcBef>
              <a:defRPr sz="1500">
                <a:solidFill>
                  <a:srgbClr val="374150"/>
                </a:solidFill>
              </a:defRPr>
            </a:pPr>
            <a:r>
              <a:t>There is no “best algorithm” independent of the problem.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8C9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04E"/>
                </a:solidFill>
              </a:defRPr>
            </a:pPr>
            <a:r>
              <a:t>Law of the Smooth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6473"/>
                </a:solidFill>
              </a:defRPr>
            </a:pPr>
            <a:r>
              <a:t>A common ML assumption: nearby inputs tend to have related outputs.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5669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D3746"/>
                </a:solidFill>
              </a:defRPr>
            </a:pPr>
            <a:r>
              <a:t>If two examples are very similar, we often expect their predictions to be similar.</a:t>
            </a:r>
          </a:p>
          <a:p>
            <a:pPr>
              <a:spcAft>
                <a:spcPts val="1200"/>
              </a:spcAft>
              <a:defRPr sz="1800" b="0">
                <a:solidFill>
                  <a:srgbClr val="2D3746"/>
                </a:solidFill>
              </a:defRPr>
            </a:pPr>
            <a:r>
              <a:t>This assumption helps methods such as nearest-neighbor learning and many forms of interpolation.</a:t>
            </a:r>
          </a:p>
          <a:p>
            <a:pPr>
              <a:spcAft>
                <a:spcPts val="1200"/>
              </a:spcAft>
              <a:defRPr sz="1800" b="0">
                <a:solidFill>
                  <a:srgbClr val="2D3746"/>
                </a:solidFill>
              </a:defRPr>
            </a:pPr>
            <a:r>
              <a:t>Example: two photos with very similar visual features are likely to have similar labels.</a:t>
            </a:r>
          </a:p>
          <a:p>
            <a:pPr>
              <a:spcAft>
                <a:spcPts val="1200"/>
              </a:spcAft>
              <a:defRPr sz="1800" b="0">
                <a:solidFill>
                  <a:srgbClr val="2D3746"/>
                </a:solidFill>
              </a:defRPr>
            </a:pPr>
            <a:r>
              <a:t>The assumption can fail at sharp boundaries, unusual cases, or when small changes have large effects.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766560" y="5166360"/>
            <a:ext cx="4206240" cy="0"/>
          </a:xfrm>
          <a:prstGeom prst="line">
            <a:avLst/>
          </a:prstGeom>
          <a:ln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766560" y="1828800"/>
            <a:ext cx="0" cy="3337560"/>
          </a:xfrm>
          <a:prstGeom prst="line">
            <a:avLst/>
          </a:prstGeom>
          <a:ln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903720" y="4892040"/>
            <a:ext cx="109728" cy="109728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60920" y="4572000"/>
            <a:ext cx="109728" cy="109728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18120" y="4251960"/>
            <a:ext cx="109728" cy="109728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75320" y="3931920"/>
            <a:ext cx="109728" cy="109728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32520" y="3611880"/>
            <a:ext cx="109728" cy="109728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89720" y="3291840"/>
            <a:ext cx="109728" cy="109728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46920" y="2971800"/>
            <a:ext cx="109728" cy="109728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104120" y="2651760"/>
            <a:ext cx="109728" cy="109728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561320" y="2331720"/>
            <a:ext cx="109728" cy="109728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V="1">
            <a:off x="6958583" y="4626864"/>
            <a:ext cx="457201" cy="320039"/>
          </a:xfrm>
          <a:prstGeom prst="line">
            <a:avLst/>
          </a:prstGeom>
          <a:ln w="3175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415784" y="4306824"/>
            <a:ext cx="457200" cy="320040"/>
          </a:xfrm>
          <a:prstGeom prst="line">
            <a:avLst/>
          </a:prstGeom>
          <a:ln w="3175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872984" y="3986783"/>
            <a:ext cx="457200" cy="320041"/>
          </a:xfrm>
          <a:prstGeom prst="line">
            <a:avLst/>
          </a:prstGeom>
          <a:ln w="3175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330184" y="3666744"/>
            <a:ext cx="457200" cy="320039"/>
          </a:xfrm>
          <a:prstGeom prst="line">
            <a:avLst/>
          </a:prstGeom>
          <a:ln w="3175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787384" y="3346704"/>
            <a:ext cx="457200" cy="320040"/>
          </a:xfrm>
          <a:prstGeom prst="line">
            <a:avLst/>
          </a:prstGeom>
          <a:ln w="3175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244584" y="3026664"/>
            <a:ext cx="457200" cy="320040"/>
          </a:xfrm>
          <a:prstGeom prst="line">
            <a:avLst/>
          </a:prstGeom>
          <a:ln w="3175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701784" y="2706624"/>
            <a:ext cx="457200" cy="320040"/>
          </a:xfrm>
          <a:prstGeom prst="line">
            <a:avLst/>
          </a:prstGeom>
          <a:ln w="3175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0158984" y="2386584"/>
            <a:ext cx="457200" cy="320040"/>
          </a:xfrm>
          <a:prstGeom prst="line">
            <a:avLst/>
          </a:prstGeom>
          <a:ln w="3175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812280" y="1325880"/>
            <a:ext cx="4114800" cy="868680"/>
          </a:xfrm>
          <a:prstGeom prst="roundRect">
            <a:avLst/>
          </a:prstGeom>
          <a:solidFill>
            <a:srgbClr val="E8F5E8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1F3F70"/>
                </a:solidFill>
              </a:defRPr>
            </a:pPr>
            <a:r>
              <a:t>Intuition</a:t>
            </a:r>
          </a:p>
          <a:p>
            <a:pPr>
              <a:spcBef>
                <a:spcPts val="700"/>
              </a:spcBef>
              <a:defRPr sz="1500">
                <a:solidFill>
                  <a:srgbClr val="374150"/>
                </a:solidFill>
              </a:defRPr>
            </a:pPr>
            <a:r>
              <a:t>Close points → similar behavior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8C9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04E"/>
                </a:solidFill>
              </a:defRPr>
            </a:pPr>
            <a:r>
              <a:t>Curse of Dimensionality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6473"/>
                </a:solidFill>
              </a:defRPr>
            </a:pPr>
            <a:r>
              <a:t>Adding more features can make learning surprisingly difficult.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5669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D3746"/>
                </a:solidFill>
              </a:defRPr>
            </a:pPr>
            <a:r>
              <a:t>A dimension is a feature or variable used to describe an example.</a:t>
            </a:r>
          </a:p>
          <a:p>
            <a:pPr>
              <a:spcAft>
                <a:spcPts val="1200"/>
              </a:spcAft>
              <a:defRPr sz="1800" b="0">
                <a:solidFill>
                  <a:srgbClr val="2D3746"/>
                </a:solidFill>
              </a:defRPr>
            </a:pPr>
            <a:r>
              <a:t>With many dimensions, data points spread out and become sparse.</a:t>
            </a:r>
          </a:p>
          <a:p>
            <a:pPr>
              <a:spcAft>
                <a:spcPts val="1200"/>
              </a:spcAft>
              <a:defRPr sz="1800" b="0">
                <a:solidFill>
                  <a:srgbClr val="2D3746"/>
                </a:solidFill>
              </a:defRPr>
            </a:pPr>
            <a:r>
              <a:t>Distance-based methods can become less informative because many points appear similarly far apart.</a:t>
            </a:r>
          </a:p>
          <a:p>
            <a:pPr>
              <a:spcAft>
                <a:spcPts val="1200"/>
              </a:spcAft>
              <a:defRPr sz="1800" b="0">
                <a:solidFill>
                  <a:srgbClr val="2D3746"/>
                </a:solidFill>
              </a:defRPr>
            </a:pPr>
            <a:r>
              <a:t>More dimensions can also increase computation and the amount of data needed.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325880"/>
            <a:ext cx="2057400" cy="731520"/>
          </a:xfrm>
          <a:prstGeom prst="roundRect">
            <a:avLst/>
          </a:prstGeom>
          <a:solidFill>
            <a:srgbClr val="E8F5E8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1F3F70"/>
                </a:solidFill>
              </a:defRPr>
            </a:pPr>
            <a:r>
              <a:t>2 dimensions</a:t>
            </a:r>
          </a:p>
          <a:p>
            <a:pPr>
              <a:spcBef>
                <a:spcPts val="700"/>
              </a:spcBef>
              <a:defRPr sz="1500">
                <a:solidFill>
                  <a:srgbClr val="374150"/>
                </a:solidFill>
              </a:defRPr>
            </a:pPr>
            <a:r>
              <a:t>Points are easier to visualize.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325880"/>
            <a:ext cx="2057400" cy="731520"/>
          </a:xfrm>
          <a:prstGeom prst="roundRect">
            <a:avLst/>
          </a:prstGeom>
          <a:solidFill>
            <a:srgbClr val="FAEBEB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1F3F70"/>
                </a:solidFill>
              </a:defRPr>
            </a:pPr>
            <a:r>
              <a:t>Many dimensions</a:t>
            </a:r>
          </a:p>
          <a:p>
            <a:pPr>
              <a:spcBef>
                <a:spcPts val="700"/>
              </a:spcBef>
              <a:defRPr sz="1500">
                <a:solidFill>
                  <a:srgbClr val="374150"/>
                </a:solidFill>
              </a:defRPr>
            </a:pPr>
            <a:r>
              <a:t>Points become sparse.</a:t>
            </a:r>
          </a:p>
        </p:txBody>
      </p:sp>
      <p:sp>
        <p:nvSpPr>
          <p:cNvPr id="8" name="Oval 7"/>
          <p:cNvSpPr/>
          <p:nvPr/>
        </p:nvSpPr>
        <p:spPr>
          <a:xfrm>
            <a:off x="6858000" y="2514600"/>
            <a:ext cx="109728" cy="109728"/>
          </a:xfrm>
          <a:prstGeom prst="ellipse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0" y="2834640"/>
            <a:ext cx="109728" cy="109728"/>
          </a:xfrm>
          <a:prstGeom prst="ellipse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635240" y="2240280"/>
            <a:ext cx="109728" cy="109728"/>
          </a:xfrm>
          <a:prstGeom prst="ellipse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20" y="3246120"/>
            <a:ext cx="109728" cy="109728"/>
          </a:xfrm>
          <a:prstGeom prst="ellipse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66760" y="2651760"/>
            <a:ext cx="109728" cy="109728"/>
          </a:xfrm>
          <a:prstGeom prst="ellipse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0" y="2194560"/>
            <a:ext cx="109728" cy="10972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38360" y="2880360"/>
            <a:ext cx="109728" cy="10972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69880" y="2423160"/>
            <a:ext cx="109728" cy="10972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098280" y="3749039"/>
            <a:ext cx="109728" cy="10972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744200" y="4251960"/>
            <a:ext cx="109728" cy="10972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784080" y="4754880"/>
            <a:ext cx="109728" cy="10972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720840" y="5166360"/>
            <a:ext cx="4251960" cy="731520"/>
          </a:xfrm>
          <a:prstGeom prst="roundRect">
            <a:avLst/>
          </a:prstGeom>
          <a:solidFill>
            <a:srgbClr val="EEF4FC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1F3F70"/>
                </a:solidFill>
              </a:defRPr>
            </a:pPr>
            <a:r>
              <a:t>Practical response</a:t>
            </a:r>
          </a:p>
          <a:p>
            <a:pPr>
              <a:spcBef>
                <a:spcPts val="700"/>
              </a:spcBef>
              <a:defRPr sz="1500">
                <a:solidFill>
                  <a:srgbClr val="374150"/>
                </a:solidFill>
              </a:defRPr>
            </a:pPr>
            <a:r>
              <a:t>Select useful features, reduce dimensions, and collect enough representative data.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8C9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04E"/>
                </a:solidFill>
              </a:defRPr>
            </a:pPr>
            <a:r>
              <a:t>How the four principles 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6473"/>
                </a:solidFill>
              </a:defRPr>
            </a:pPr>
            <a:r>
              <a:t>Together they describe assumptions, choices, and challenges in ML.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1417320"/>
          </a:xfrm>
          <a:prstGeom prst="roundRect">
            <a:avLst/>
          </a:prstGeom>
          <a:solidFill>
            <a:srgbClr val="E8F5E8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1F3F70"/>
                </a:solidFill>
              </a:defRPr>
            </a:pPr>
            <a:r>
              <a:t>Occam’s Razor</a:t>
            </a:r>
          </a:p>
          <a:p>
            <a:pPr>
              <a:spcBef>
                <a:spcPts val="700"/>
              </a:spcBef>
              <a:defRPr sz="1500">
                <a:solidFill>
                  <a:srgbClr val="374150"/>
                </a:solidFill>
              </a:defRPr>
            </a:pPr>
            <a:r>
              <a:t>Choose a simpler explanation when it provides comparable predictive performance.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1417320"/>
          </a:xfrm>
          <a:prstGeom prst="roundRect">
            <a:avLst/>
          </a:prstGeom>
          <a:solidFill>
            <a:srgbClr val="EEF4FC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1F3F70"/>
                </a:solidFill>
              </a:defRPr>
            </a:pPr>
            <a:r>
              <a:t>No-Free-Lunch</a:t>
            </a:r>
          </a:p>
          <a:p>
            <a:pPr>
              <a:spcBef>
                <a:spcPts val="700"/>
              </a:spcBef>
              <a:defRPr sz="1500">
                <a:solidFill>
                  <a:srgbClr val="374150"/>
                </a:solidFill>
              </a:defRPr>
            </a:pPr>
            <a:r>
              <a:t>Do not expect one algorithm to dominate on every possible dataset.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5212080" cy="1417320"/>
          </a:xfrm>
          <a:prstGeom prst="roundRect">
            <a:avLst/>
          </a:prstGeom>
          <a:solidFill>
            <a:srgbClr val="F5EFE2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1F3F70"/>
                </a:solidFill>
              </a:defRPr>
            </a:pPr>
            <a:r>
              <a:t>Law of the Smooth World</a:t>
            </a:r>
          </a:p>
          <a:p>
            <a:pPr>
              <a:spcBef>
                <a:spcPts val="700"/>
              </a:spcBef>
              <a:defRPr sz="1500">
                <a:solidFill>
                  <a:srgbClr val="374150"/>
                </a:solidFill>
              </a:defRPr>
            </a:pPr>
            <a:r>
              <a:t>Generalization often relies on the idea that similar inputs behave similarly.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154680"/>
            <a:ext cx="5212080" cy="1417320"/>
          </a:xfrm>
          <a:prstGeom prst="roundRect">
            <a:avLst/>
          </a:prstGeom>
          <a:solidFill>
            <a:srgbClr val="FAEBEB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1F3F70"/>
                </a:solidFill>
              </a:defRPr>
            </a:pPr>
            <a:r>
              <a:t>Curse of Dimensionality</a:t>
            </a:r>
          </a:p>
          <a:p>
            <a:pPr>
              <a:spcBef>
                <a:spcPts val="700"/>
              </a:spcBef>
              <a:defRPr sz="1500">
                <a:solidFill>
                  <a:srgbClr val="374150"/>
                </a:solidFill>
              </a:defRPr>
            </a:pPr>
            <a:r>
              <a:t>Too many features can make similarity, visualization, computation, and learning harder.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5074920"/>
            <a:ext cx="8138160" cy="777240"/>
          </a:xfrm>
          <a:prstGeom prst="roundRect">
            <a:avLst/>
          </a:prstGeom>
          <a:solidFill>
            <a:srgbClr val="EEF4FC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1F3F70"/>
                </a:solidFill>
              </a:defRPr>
            </a:pPr>
            <a:r>
              <a:t>Key takeaway</a:t>
            </a:r>
          </a:p>
          <a:p>
            <a:pPr>
              <a:spcBef>
                <a:spcPts val="700"/>
              </a:spcBef>
              <a:defRPr sz="1500">
                <a:solidFill>
                  <a:srgbClr val="374150"/>
                </a:solidFill>
              </a:defRPr>
            </a:pPr>
            <a:r>
              <a:t>Machine learning works by combining data with assumptions—and every assumption has limits.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8C9B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04E"/>
                </a:solidFill>
              </a:defRPr>
            </a:pPr>
            <a:r>
              <a:t>Simple classroom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6473"/>
                </a:solidFill>
              </a:defRPr>
            </a:pPr>
            <a:r>
              <a:t>Use these situations to discuss the principles with students.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303520" cy="1234440"/>
          </a:xfrm>
          <a:prstGeom prst="roundRect">
            <a:avLst/>
          </a:prstGeom>
          <a:solidFill>
            <a:srgbClr val="E8F5E8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1F3F70"/>
                </a:solidFill>
              </a:defRPr>
            </a:pPr>
            <a:r>
              <a:t>Example 1 — Student marks</a:t>
            </a:r>
          </a:p>
          <a:p>
            <a:pPr>
              <a:spcBef>
                <a:spcPts val="700"/>
              </a:spcBef>
              <a:defRPr sz="1500">
                <a:solidFill>
                  <a:srgbClr val="374150"/>
                </a:solidFill>
              </a:defRPr>
            </a:pPr>
            <a:r>
              <a:t>A simple trend line may be easier to explain than a curve that exactly follows every student.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25880"/>
            <a:ext cx="5303520" cy="1234440"/>
          </a:xfrm>
          <a:prstGeom prst="roundRect">
            <a:avLst/>
          </a:prstGeom>
          <a:solidFill>
            <a:srgbClr val="EEF4FC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1F3F70"/>
                </a:solidFill>
              </a:defRPr>
            </a:pPr>
            <a:r>
              <a:t>Example 2 — Image classification</a:t>
            </a:r>
          </a:p>
          <a:p>
            <a:pPr>
              <a:spcBef>
                <a:spcPts val="700"/>
              </a:spcBef>
              <a:defRPr sz="1500">
                <a:solidFill>
                  <a:srgbClr val="374150"/>
                </a:solidFill>
              </a:defRPr>
            </a:pPr>
            <a:r>
              <a:t>Different models may work differently depending on the images and task.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880360"/>
            <a:ext cx="5303520" cy="1234440"/>
          </a:xfrm>
          <a:prstGeom prst="roundRect">
            <a:avLst/>
          </a:prstGeom>
          <a:solidFill>
            <a:srgbClr val="F5EFE2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1F3F70"/>
                </a:solidFill>
              </a:defRPr>
            </a:pPr>
            <a:r>
              <a:t>Example 3 — Similar products</a:t>
            </a:r>
          </a:p>
          <a:p>
            <a:pPr>
              <a:spcBef>
                <a:spcPts val="700"/>
              </a:spcBef>
              <a:defRPr sz="1500">
                <a:solidFill>
                  <a:srgbClr val="374150"/>
                </a:solidFill>
              </a:defRPr>
            </a:pPr>
            <a:r>
              <a:t>Products with similar features may receive similar recommendations.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880360"/>
            <a:ext cx="5303520" cy="1234440"/>
          </a:xfrm>
          <a:prstGeom prst="roundRect">
            <a:avLst/>
          </a:prstGeom>
          <a:solidFill>
            <a:srgbClr val="FAEBEB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1F3F70"/>
                </a:solidFill>
              </a:defRPr>
            </a:pPr>
            <a:r>
              <a:t>Example 4 — Too many features</a:t>
            </a:r>
          </a:p>
          <a:p>
            <a:pPr>
              <a:spcBef>
                <a:spcPts val="700"/>
              </a:spcBef>
              <a:defRPr sz="1500">
                <a:solidFill>
                  <a:srgbClr val="374150"/>
                </a:solidFill>
              </a:defRPr>
            </a:pPr>
            <a:r>
              <a:t>Using hundreds of unnecessary attributes can make a dataset harder to learn from.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4800600"/>
            <a:ext cx="8503920" cy="914400"/>
          </a:xfrm>
          <a:prstGeom prst="roundRect">
            <a:avLst/>
          </a:prstGeom>
          <a:solidFill>
            <a:srgbClr val="EEF4FC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1F3F70"/>
                </a:solidFill>
              </a:defRPr>
            </a:pPr>
            <a:r>
              <a:t>Think &amp; discuss</a:t>
            </a:r>
          </a:p>
          <a:p>
            <a:pPr>
              <a:spcBef>
                <a:spcPts val="700"/>
              </a:spcBef>
              <a:defRPr sz="1500">
                <a:solidFill>
                  <a:srgbClr val="374150"/>
                </a:solidFill>
              </a:defRPr>
            </a:pPr>
            <a:r>
              <a:t>Which principle is being used? What assumption is being made? Could that assumption fail?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8C9B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04E"/>
                </a:solidFill>
              </a:defRPr>
            </a:pPr>
            <a:r>
              <a:t>Quick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6473"/>
                </a:solidFill>
              </a:defRPr>
            </a:pPr>
            <a:r>
              <a:t>Four principles to 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2D3746"/>
                </a:solidFill>
              </a:defRPr>
            </a:pPr>
            <a:r>
              <a:t>Occam’s Razor → Prefer simpler explanations when performance is comparable.</a:t>
            </a:r>
          </a:p>
          <a:p>
            <a:pPr>
              <a:spcAft>
                <a:spcPts val="1200"/>
              </a:spcAft>
              <a:defRPr sz="2200" b="0">
                <a:solidFill>
                  <a:srgbClr val="2D3746"/>
                </a:solidFill>
              </a:defRPr>
            </a:pPr>
            <a:r>
              <a:t>No-Free-Lunch Theorem → No algorithm is best for every problem.</a:t>
            </a:r>
          </a:p>
          <a:p>
            <a:pPr>
              <a:spcAft>
                <a:spcPts val="1200"/>
              </a:spcAft>
              <a:defRPr sz="2200" b="0">
                <a:solidFill>
                  <a:srgbClr val="2D3746"/>
                </a:solidFill>
              </a:defRPr>
            </a:pPr>
            <a:r>
              <a:t>Law of the Smooth World → Similar inputs often lead to similar outputs.</a:t>
            </a:r>
          </a:p>
          <a:p>
            <a:pPr>
              <a:spcAft>
                <a:spcPts val="1200"/>
              </a:spcAft>
              <a:defRPr sz="2200" b="0">
                <a:solidFill>
                  <a:srgbClr val="2D3746"/>
                </a:solidFill>
              </a:defRPr>
            </a:pPr>
            <a:r>
              <a:t>Curse of Dimensionality → Too many dimensions can make data sparse and learning difficult.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4800600"/>
            <a:ext cx="8503920" cy="914400"/>
          </a:xfrm>
          <a:prstGeom prst="roundRect">
            <a:avLst/>
          </a:prstGeom>
          <a:solidFill>
            <a:srgbClr val="E8F5E8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1F3F70"/>
                </a:solidFill>
              </a:defRPr>
            </a:pPr>
            <a:r>
              <a:t>One-line summary</a:t>
            </a:r>
          </a:p>
          <a:p>
            <a:pPr>
              <a:spcBef>
                <a:spcPts val="700"/>
              </a:spcBef>
              <a:defRPr sz="1500">
                <a:solidFill>
                  <a:srgbClr val="374150"/>
                </a:solidFill>
              </a:defRPr>
            </a:pPr>
            <a:r>
              <a:t>Good machine learning balances simplicity, suitable assumptions, the right algorithm, and useful features.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8C9B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04E"/>
                </a:solidFill>
              </a:defRPr>
            </a:pPr>
            <a:r>
              <a:t>Review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6473"/>
                </a:solidFill>
              </a:defRPr>
            </a:pPr>
            <a:r>
              <a:t>Check your understanding.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D3746"/>
                </a:solidFill>
              </a:defRPr>
            </a:pPr>
            <a:r>
              <a:t>1. What does Occam’s Razor suggest when two models perform similarly?</a:t>
            </a:r>
          </a:p>
          <a:p>
            <a:pPr>
              <a:spcAft>
                <a:spcPts val="1200"/>
              </a:spcAft>
              <a:defRPr sz="2000" b="0">
                <a:solidFill>
                  <a:srgbClr val="2D3746"/>
                </a:solidFill>
              </a:defRPr>
            </a:pPr>
            <a:r>
              <a:t>2. Why does the No-Free-Lunch Theorem matter when selecting an algorithm?</a:t>
            </a:r>
          </a:p>
          <a:p>
            <a:pPr>
              <a:spcAft>
                <a:spcPts val="1200"/>
              </a:spcAft>
              <a:defRPr sz="2000" b="0">
                <a:solidFill>
                  <a:srgbClr val="2D3746"/>
                </a:solidFill>
              </a:defRPr>
            </a:pPr>
            <a:r>
              <a:t>3. What is meant by the Law of the Smooth World?</a:t>
            </a:r>
          </a:p>
          <a:p>
            <a:pPr>
              <a:spcAft>
                <a:spcPts val="1200"/>
              </a:spcAft>
              <a:defRPr sz="2000" b="0">
                <a:solidFill>
                  <a:srgbClr val="2D3746"/>
                </a:solidFill>
              </a:defRPr>
            </a:pPr>
            <a:r>
              <a:t>4. Why can a very large number of features be a problem?</a:t>
            </a:r>
          </a:p>
          <a:p>
            <a:pPr>
              <a:spcAft>
                <a:spcPts val="1200"/>
              </a:spcAft>
              <a:defRPr sz="2000" b="0">
                <a:solidFill>
                  <a:srgbClr val="2D3746"/>
                </a:solidFill>
              </a:defRPr>
            </a:pPr>
            <a:r>
              <a:t>5. Give one real-life example for any two of these principles.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5577840"/>
            <a:ext cx="7223760" cy="548640"/>
          </a:xfrm>
          <a:prstGeom prst="roundRect">
            <a:avLst/>
          </a:prstGeom>
          <a:solidFill>
            <a:srgbClr val="F5EFE2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1F3F70"/>
                </a:solidFill>
              </a:defRPr>
            </a:pPr>
            <a:r>
              <a:t>Activity</a:t>
            </a:r>
          </a:p>
          <a:p>
            <a:pPr>
              <a:spcBef>
                <a:spcPts val="700"/>
              </a:spcBef>
              <a:defRPr sz="1500">
                <a:solidFill>
                  <a:srgbClr val="374150"/>
                </a:solidFill>
              </a:defRPr>
            </a:pPr>
            <a:r>
              <a:t>Ask students to identify the principle from a short ML scenario.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8C9B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